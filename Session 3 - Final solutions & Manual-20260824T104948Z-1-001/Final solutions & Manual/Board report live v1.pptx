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rts/chart4.xml" ContentType="application/vnd.openxmlformats-officedocument.drawingml.chart+xml"/>
  <Override PartName="/ppt/charts/chart2.xml" ContentType="application/vnd.openxmlformats-officedocument.drawingml.chart+xml"/>
  <Override PartName="/ppt/webextensions/webextension1.xml" ContentType="application/vnd.ms-office.webextension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webextensions/taskpanes.xml" ContentType="application/vnd.ms-office.webextensiontaskpanes+xml"/>
  <Override PartName="/ppt/charts/chart3.xml" ContentType="application/vnd.openxmlformats-officedocument.drawingml.char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9" r:id="rId2"/>
    <p:sldId id="261" r:id="rId3"/>
    <p:sldId id="263" r:id="rId4"/>
    <p:sldId id="265" r:id="rId5"/>
    <p:sldId id="267" r:id="rId6"/>
    <p:sldId id="284" r:id="rId7"/>
    <p:sldId id="285" r:id="rId8"/>
    <p:sldId id="286" r:id="rId9"/>
    <p:sldId id="279" r:id="rId10"/>
    <p:sldId id="2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15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1A3C2E"/>
                </a:solidFill>
              </a:defRPr>
            </a:pPr>
            <a:r>
              <a:rPr lang="en-US" sz="1600" b="1">
                <a:solidFill>
                  <a:srgbClr val="1A3C2E"/>
                </a:solidFill>
              </a:rPr>
              <a:t>FY26 Revenue by Entity: Actual vs Budget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A3C2E"/>
            </a:solidFill>
          </c:spPr>
          <c:invertIfNegative val="1"/>
          <c:dLbls>
            <c:numFmt formatCode="\$#,##0.0,,&quot;M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1A3C2E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Americas</c:v>
              </c:pt>
              <c:pt idx="1">
                <c:v>APAC</c:v>
              </c:pt>
              <c:pt idx="2">
                <c:v>EMEA</c:v>
              </c:pt>
            </c:strLit>
          </c:cat>
          <c:val>
            <c:numLit>
              <c:formatCode>\$#,##0.0,,"M"</c:formatCode>
              <c:ptCount val="3"/>
              <c:pt idx="0">
                <c:v>28303635</c:v>
              </c:pt>
              <c:pt idx="1">
                <c:v>14555849</c:v>
              </c:pt>
              <c:pt idx="2">
                <c:v>20246582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F2C-4C89-8231-4486A95340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8FBC9E"/>
            </a:solidFill>
          </c:spPr>
          <c:invertIfNegative val="1"/>
          <c:dLbls>
            <c:numFmt formatCode="\$#,##0.0,,&quot;M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1A3C2E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Americas</c:v>
              </c:pt>
              <c:pt idx="1">
                <c:v>APAC</c:v>
              </c:pt>
              <c:pt idx="2">
                <c:v>EMEA</c:v>
              </c:pt>
            </c:strLit>
          </c:cat>
          <c:val>
            <c:numLit>
              <c:formatCode>\$#,##0.0,,"M"</c:formatCode>
              <c:ptCount val="3"/>
              <c:pt idx="0">
                <c:v>29586980</c:v>
              </c:pt>
              <c:pt idx="1">
                <c:v>15122236</c:v>
              </c:pt>
              <c:pt idx="2">
                <c:v>21039625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F2C-4C89-8231-4486A95340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1A3C2E"/>
                </a:solidFill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\$#,##0.0,,&quot;M&quot;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A3C2E"/>
                </a:solidFill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A3C2E"/>
              </a:solidFill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600" b="1">
                <a:solidFill>
                  <a:srgbClr val="1A3C2E"/>
                </a:solidFill>
              </a:rPr>
              <a:t>Revenue &amp; EBITDA Margin by Quarter (FY25-FY26)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A3C2E"/>
            </a:solidFill>
          </c:spPr>
          <c:invertIfNegative val="1"/>
          <c:dLbls>
            <c:numFmt formatCode="\$#,##0.0,,&quot;M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1A3C2E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FY25 Q1</c:v>
              </c:pt>
              <c:pt idx="1">
                <c:v>FY25 Q2</c:v>
              </c:pt>
              <c:pt idx="2">
                <c:v>FY25 Q3</c:v>
              </c:pt>
              <c:pt idx="3">
                <c:v>FY25 Q4</c:v>
              </c:pt>
              <c:pt idx="4">
                <c:v>FY26 Q1</c:v>
              </c:pt>
              <c:pt idx="5">
                <c:v>FY26 Q2</c:v>
              </c:pt>
              <c:pt idx="6">
                <c:v>FY26 Q3</c:v>
              </c:pt>
              <c:pt idx="7">
                <c:v>FY26 Q4</c:v>
              </c:pt>
            </c:strLit>
          </c:cat>
          <c:val>
            <c:numLit>
              <c:formatCode>\$#,##0.0,,"M"</c:formatCode>
              <c:ptCount val="8"/>
              <c:pt idx="0">
                <c:v>12759767</c:v>
              </c:pt>
              <c:pt idx="1">
                <c:v>14551945</c:v>
              </c:pt>
              <c:pt idx="2">
                <c:v>13156496</c:v>
              </c:pt>
              <c:pt idx="3">
                <c:v>14279390</c:v>
              </c:pt>
              <c:pt idx="4">
                <c:v>14661112</c:v>
              </c:pt>
              <c:pt idx="5">
                <c:v>17026605</c:v>
              </c:pt>
              <c:pt idx="6">
                <c:v>15022707</c:v>
              </c:pt>
              <c:pt idx="7">
                <c:v>16395642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4D3-4A26-AB9F-25CD3C42CA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11111111"/>
        <c:axId val="22222222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EBITDA Margin %</c:v>
                </c:pt>
              </c:strCache>
            </c:strRef>
          </c:tx>
          <c:spPr>
            <a:ln w="28575">
              <a:solidFill>
                <a:srgbClr val="B08D57"/>
              </a:solidFill>
            </a:ln>
          </c:spPr>
          <c:marker>
            <c:symbol val="circle"/>
            <c:size val="6"/>
            <c:spPr>
              <a:solidFill>
                <a:srgbClr val="B08D57"/>
              </a:solidFill>
            </c:spPr>
          </c:marker>
          <c:dLbls>
            <c:numFmt formatCode="0.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B08D57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FY25 Q1</c:v>
              </c:pt>
              <c:pt idx="1">
                <c:v>FY25 Q2</c:v>
              </c:pt>
              <c:pt idx="2">
                <c:v>FY25 Q3</c:v>
              </c:pt>
              <c:pt idx="3">
                <c:v>FY25 Q4</c:v>
              </c:pt>
              <c:pt idx="4">
                <c:v>FY26 Q1</c:v>
              </c:pt>
              <c:pt idx="5">
                <c:v>FY26 Q2</c:v>
              </c:pt>
              <c:pt idx="6">
                <c:v>FY26 Q3</c:v>
              </c:pt>
              <c:pt idx="7">
                <c:v>FY26 Q4</c:v>
              </c:pt>
            </c:strLit>
          </c:cat>
          <c:val>
            <c:numLit>
              <c:formatCode>0.0%</c:formatCode>
              <c:ptCount val="8"/>
              <c:pt idx="0">
                <c:v>-0.35422399999999998</c:v>
              </c:pt>
              <c:pt idx="1">
                <c:v>-0.19058600000000001</c:v>
              </c:pt>
              <c:pt idx="2">
                <c:v>-0.42035299999999998</c:v>
              </c:pt>
              <c:pt idx="3">
                <c:v>-0.34698499999999999</c:v>
              </c:pt>
              <c:pt idx="4">
                <c:v>-0.34610299999999999</c:v>
              </c:pt>
              <c:pt idx="5">
                <c:v>-0.162942</c:v>
              </c:pt>
              <c:pt idx="6">
                <c:v>-0.44911899999999999</c:v>
              </c:pt>
              <c:pt idx="7">
                <c:v>-0.340702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24D3-4A26-AB9F-25CD3C42CA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3333333"/>
        <c:axId val="444444444"/>
      </c:line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1A3C2E"/>
                </a:solidFill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\$#,##0.0,,&quot;M&quot;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A3C2E"/>
                </a:solidFill>
              </a:defRPr>
            </a:pPr>
            <a:endParaRPr lang="en-US"/>
          </a:p>
        </c:txPr>
        <c:crossAx val="111111111"/>
        <c:crosses val="autoZero"/>
        <c:crossBetween val="between"/>
      </c:valAx>
      <c:valAx>
        <c:axId val="444444444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B08D57"/>
                </a:solidFill>
              </a:defRPr>
            </a:pPr>
            <a:endParaRPr lang="en-US"/>
          </a:p>
        </c:txPr>
        <c:crossAx val="333333333"/>
        <c:crosses val="max"/>
        <c:crossBetween val="between"/>
      </c:valAx>
      <c:catAx>
        <c:axId val="33333333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444444444"/>
        <c:crosses val="autoZero"/>
        <c:auto val="1"/>
        <c:lblAlgn val="ctr"/>
        <c:lblOffset val="100"/>
        <c:noMultiLvlLbl val="1"/>
      </c:catAx>
    </c:plotArea>
    <c:legend>
      <c:legendPos val="t"/>
      <c:overlay val="0"/>
      <c:txPr>
        <a:bodyPr/>
        <a:lstStyle/>
        <a:p>
          <a:pPr>
            <a:defRPr sz="1400">
              <a:solidFill>
                <a:srgbClr val="1A3C2E"/>
              </a:solidFill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1A3C2E"/>
                </a:solidFill>
              </a:defRPr>
            </a:pPr>
            <a:r>
              <a:rPr lang="en-US" sz="1600" b="1"/>
              <a:t>Revenue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Revenue</c:v>
          </c:tx>
          <c:invertIfNegative val="1"/>
          <c:dPt>
            <c:idx val="0"/>
            <c:invertIfNegative val="1"/>
            <c:bubble3D val="0"/>
            <c:spPr>
              <a:solidFill>
                <a:srgbClr val="4A7C59"/>
              </a:solidFill>
            </c:spPr>
            <c:extLst>
              <c:ext xmlns:c16="http://schemas.microsoft.com/office/drawing/2014/chart" uri="{C3380CC4-5D6E-409C-BE32-E72D297353CC}">
                <c16:uniqueId val="{00000001-8963-4307-BB5E-3FB062952345}"/>
              </c:ext>
            </c:extLst>
          </c:dPt>
          <c:dPt>
            <c:idx val="1"/>
            <c:invertIfNegative val="1"/>
            <c:bubble3D val="0"/>
            <c:spPr>
              <a:solidFill>
                <a:srgbClr val="8FBC9E"/>
              </a:solidFill>
            </c:spPr>
            <c:extLst>
              <c:ext xmlns:c16="http://schemas.microsoft.com/office/drawing/2014/chart" uri="{C3380CC4-5D6E-409C-BE32-E72D297353CC}">
                <c16:uniqueId val="{00000003-8963-4307-BB5E-3FB062952345}"/>
              </c:ext>
            </c:extLst>
          </c:dPt>
          <c:dPt>
            <c:idx val="2"/>
            <c:invertIfNegative val="1"/>
            <c:bubble3D val="0"/>
            <c:spPr>
              <a:solidFill>
                <a:srgbClr val="1A3C2E"/>
              </a:solidFill>
            </c:spPr>
            <c:extLst>
              <c:ext xmlns:c16="http://schemas.microsoft.com/office/drawing/2014/chart" uri="{C3380CC4-5D6E-409C-BE32-E72D297353CC}">
                <c16:uniqueId val="{00000005-8963-4307-BB5E-3FB062952345}"/>
              </c:ext>
            </c:extLst>
          </c:dPt>
          <c:dLbls>
            <c:numFmt formatCode="\$#,##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A3C2E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Budget</c:v>
              </c:pt>
              <c:pt idx="1">
                <c:v>Forecast</c:v>
              </c:pt>
              <c:pt idx="2">
                <c:v>Base Case</c:v>
              </c:pt>
            </c:strLit>
          </c:cat>
          <c:val>
            <c:numLit>
              <c:formatCode>\$#,##0,,"M"</c:formatCode>
              <c:ptCount val="3"/>
              <c:pt idx="0">
                <c:v>32323293</c:v>
              </c:pt>
              <c:pt idx="1">
                <c:v>31307021</c:v>
              </c:pt>
              <c:pt idx="2">
                <c:v>33875260</c:v>
              </c:pt>
            </c:numLit>
          </c:val>
          <c:extLst>
            <c:ext xmlns:c16="http://schemas.microsoft.com/office/drawing/2014/chart" uri="{C3380CC4-5D6E-409C-BE32-E72D297353CC}">
              <c16:uniqueId val="{00000006-8963-4307-BB5E-3FB0629523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1A3C2E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\$#,##0,,&quot;M&quot;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1A3C2E"/>
                </a:solidFill>
              </a:defRPr>
            </a:pPr>
            <a:r>
              <a:rPr lang="en-US" sz="1600" b="1"/>
              <a:t>Net Profit (EBITDA proxy)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Net Profit</c:v>
          </c:tx>
          <c:invertIfNegative val="0"/>
          <c:dPt>
            <c:idx val="0"/>
            <c:invertIfNegative val="0"/>
            <c:bubble3D val="0"/>
            <c:spPr>
              <a:solidFill>
                <a:srgbClr val="4A7C59"/>
              </a:solidFill>
            </c:spPr>
            <c:extLst>
              <c:ext xmlns:c16="http://schemas.microsoft.com/office/drawing/2014/chart" uri="{C3380CC4-5D6E-409C-BE32-E72D297353CC}">
                <c16:uniqueId val="{00000001-0B22-4A7E-926B-7E6264268924}"/>
              </c:ext>
            </c:extLst>
          </c:dPt>
          <c:dPt>
            <c:idx val="1"/>
            <c:invertIfNegative val="0"/>
            <c:bubble3D val="0"/>
            <c:spPr>
              <a:solidFill>
                <a:srgbClr val="8FBC9E"/>
              </a:solidFill>
            </c:spPr>
            <c:extLst>
              <c:ext xmlns:c16="http://schemas.microsoft.com/office/drawing/2014/chart" uri="{C3380CC4-5D6E-409C-BE32-E72D297353CC}">
                <c16:uniqueId val="{00000003-0B22-4A7E-926B-7E6264268924}"/>
              </c:ext>
            </c:extLst>
          </c:dPt>
          <c:dPt>
            <c:idx val="2"/>
            <c:invertIfNegative val="0"/>
            <c:bubble3D val="0"/>
            <c:spPr>
              <a:solidFill>
                <a:srgbClr val="1A3C2E"/>
              </a:solidFill>
            </c:spPr>
            <c:extLst>
              <c:ext xmlns:c16="http://schemas.microsoft.com/office/drawing/2014/chart" uri="{C3380CC4-5D6E-409C-BE32-E72D297353CC}">
                <c16:uniqueId val="{00000005-0B22-4A7E-926B-7E6264268924}"/>
              </c:ext>
            </c:extLst>
          </c:dPt>
          <c:dLbls>
            <c:numFmt formatCode="\$#,##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A3C2E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Budget</c:v>
              </c:pt>
              <c:pt idx="1">
                <c:v>Forecast</c:v>
              </c:pt>
              <c:pt idx="2">
                <c:v>Base Case</c:v>
              </c:pt>
            </c:strLit>
          </c:cat>
          <c:val>
            <c:numLit>
              <c:formatCode>\$#,##0,,"M"</c:formatCode>
              <c:ptCount val="3"/>
              <c:pt idx="0">
                <c:v>-4640306</c:v>
              </c:pt>
              <c:pt idx="1">
                <c:v>-7280302</c:v>
              </c:pt>
              <c:pt idx="2">
                <c:v>-2749856</c:v>
              </c:pt>
            </c:numLit>
          </c:val>
          <c:extLst>
            <c:ext xmlns:c16="http://schemas.microsoft.com/office/drawing/2014/chart" uri="{C3380CC4-5D6E-409C-BE32-E72D297353CC}">
              <c16:uniqueId val="{00000006-0B22-4A7E-926B-7E62642689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1A3C2E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\$#,##0,,&quot;M&quot;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FFA83-0150-B12C-514C-213D84B9E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47DF6-60CD-885C-1330-EBD9FE3DE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1954F-F35B-038B-BB82-7A0BD1010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501AF-D610-4BDB-B792-FEF2EEFD184E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01135-0A77-07F6-669F-5B204C158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2A830-2D82-6CF5-1C41-70CC71654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EF0F-B710-4331-A7C1-5C4DDF711A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722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5815C-88C9-8851-981E-2D6C1E27A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F2842-66C8-7C2F-8DE3-3A3FB3B32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BD49C-2D39-3C7E-FA85-AE2F3370E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501AF-D610-4BDB-B792-FEF2EEFD184E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C5A5F-A4C6-3094-A5F8-29D24F324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78825-1CC2-2E38-E151-40CAE2051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EF0F-B710-4331-A7C1-5C4DDF711A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458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A48F1-AEE0-22F4-2FC4-DEF64E0A0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315D1-59D3-301F-54B6-D5A454331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2C198-92EE-FFE3-3C82-FA3D16CEB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5BCE6-E8F9-19CC-65C0-EF6A9099B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501AF-D610-4BDB-B792-FEF2EEFD184E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604E2-8AEF-8010-3B08-28A533BDA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98ECD-E275-E1A2-D77C-EB8B237C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EF0F-B710-4331-A7C1-5C4DDF711A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7027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D68F9-B06F-17FC-1007-A5081ED07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7BC11-2237-2A88-BE34-300918886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E324A-44EF-77F3-56C2-500FE823A2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CD7B9D-E221-D1CD-0B1A-303C06B5AE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84A5E6-A9C4-658C-B62C-A0B845E5E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9B436A-EDAE-ED82-CEE2-D4A0CB48C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501AF-D610-4BDB-B792-FEF2EEFD184E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0595EA-B35D-1A3D-DFEF-86B80CDB3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4872B7-6757-90DE-EFBD-10C6C9A00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EF0F-B710-4331-A7C1-5C4DDF711A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444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0EF8C-062F-97B0-74F4-BE8054BD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8D003-FF16-46FB-1183-622263373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501AF-D610-4BDB-B792-FEF2EEFD184E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1646D-8F99-61C4-757B-A6276D1AC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07164-3A2D-406B-DBF0-4E311272A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EF0F-B710-4331-A7C1-5C4DDF711A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6913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AC5770-E671-5300-18F3-F33B99D4C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501AF-D610-4BDB-B792-FEF2EEFD184E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2A5A7D-68EA-8459-B318-CE3CC900C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D97BD-5086-31D3-E033-499484D43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EF0F-B710-4331-A7C1-5C4DDF711A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7598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48726-0752-3478-EF14-B269D90E1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0A31A-C590-0CDA-F649-35BA3C979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FA34F-C914-ADA9-88C2-CEB54B729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C07179-8FA6-EC56-0755-46AAB865B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501AF-D610-4BDB-B792-FEF2EEFD184E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C5024-5EF9-8ACB-FB0F-3438D86FD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1499A-CDBF-0618-A26F-740F03817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EF0F-B710-4331-A7C1-5C4DDF711A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616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55DE7-5954-428F-56DB-134C0549A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F82970-BCC4-6484-E33E-0CBADD2129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3941A-4116-49A9-A359-EE329ECD3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CFB63-9456-96A9-D422-7F6EF1E73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501AF-D610-4BDB-B792-FEF2EEFD184E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A5E4F-B931-FEF9-C214-16AAC9F50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77C8F-9D9B-0D95-8F16-39EB17EED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EF0F-B710-4331-A7C1-5C4DDF711A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9743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5E39A-1F45-272B-B309-8AB055BC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FC799-86CB-4E1B-C6F8-6D74322D3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4E783-755B-AD85-1F10-F86F43575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501AF-D610-4BDB-B792-FEF2EEFD184E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23923-B749-0D0D-F8BD-B0135E9C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1B00D-B83B-CE3D-79F5-65E68A4A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EF0F-B710-4331-A7C1-5C4DDF711A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152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8B7B62-F7A0-8AFE-FA1F-500E9EF9DC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A4DF0-38EB-0404-BF58-7764EA3EF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8F660-5E76-3901-5D9E-AAA5473F1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501AF-D610-4BDB-B792-FEF2EEFD184E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D6346-CA82-52F7-9F4B-ABB0EBA7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504A2-614F-C1D7-5268-4F5D39567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EF0F-B710-4331-A7C1-5C4DDF711A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9587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0EF8C-062F-97B0-74F4-BE8054BD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8D003-FF16-46FB-1183-622263373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501AF-D610-4BDB-B792-FEF2EEFD184E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1646D-8F99-61C4-757B-A6276D1AC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07164-3A2D-406B-DBF0-4E311272A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0EF0F-B710-4331-A7C1-5C4DDF711A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691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B28145-CAE7-C25B-DD8F-C1B8D0B89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E06DF-C495-FFA4-EF50-6BD244E9C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07E4B-D20A-07DD-4F66-AEB13D2EA7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501AF-D610-4BDB-B792-FEF2EEFD184E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64172-D715-309E-6E25-86F21619D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8AA8B-563B-99BD-9892-BC33AA8CB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F0EF0F-B710-4331-A7C1-5C4DDF711A6C}" type="slidenum">
              <a:rPr lang="en-AU" smtClean="0"/>
              <a:t>‹#›</a:t>
            </a:fld>
            <a:endParaRPr lang="en-AU"/>
          </a:p>
        </p:txBody>
      </p:sp>
      <p:sp>
        <p:nvSpPr>
          <p:cNvPr id="900" name="Bottom Accent Bar"/>
          <p:cNvSpPr/>
          <p:nvPr/>
        </p:nvSpPr>
        <p:spPr>
          <a:xfrm>
            <a:off x="0" y="6949440"/>
            <a:ext cx="9144000" cy="41275"/>
          </a:xfrm>
          <a:prstGeom prst="rect">
            <a:avLst/>
          </a:prstGeom>
          <a:solidFill>
            <a:srgbClr val="1A3C2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7786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3C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3C2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C4137-9FE4-6F9E-5829-F9600C253E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4000" b="1" dirty="0"/>
              <a:t>Management Reporting Board Pack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8FF546-3521-82CE-8EEA-306D8FFAF5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000" b="1" dirty="0"/>
              <a:t>FY26 Performance Review</a:t>
            </a:r>
          </a:p>
          <a:p>
            <a:pPr algn="ctr">
              <a:buNone/>
            </a:pPr>
            <a:r>
              <a:rPr lang="en-US" sz="1600" dirty="0"/>
              <a:t>Actual vs Budget vs Forecast  |  Group Consolidated · Americas · APAC · EMEA</a:t>
            </a:r>
          </a:p>
        </p:txBody>
      </p:sp>
    </p:spTree>
    <p:extLst>
      <p:ext uri="{BB962C8B-B14F-4D97-AF65-F5344CB8AC3E}">
        <p14:creationId xmlns:p14="http://schemas.microsoft.com/office/powerpoint/2010/main" val="25938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3C524-E75E-5E97-4B7A-A9CBB289B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9F6A-FF40-D61D-302A-2CE1B38EA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ts val="2400"/>
              </a:lnSpc>
              <a:spcBef>
                <a:spcPts val="1000"/>
              </a:spcBef>
              <a:buFont typeface="Arial"/>
              <a:buAutoNum type="arabicPeriod"/>
            </a:pPr>
            <a:r>
              <a:rPr lang="en-US" sz="2000" b="1" dirty="0"/>
              <a:t>Executive Summary</a:t>
            </a:r>
            <a:r>
              <a:rPr lang="en-US" sz="2000" dirty="0"/>
              <a:t> — KPI Snapshot</a:t>
            </a:r>
          </a:p>
          <a:p>
            <a:pPr marL="457200" indent="-457200">
              <a:lnSpc>
                <a:spcPts val="2400"/>
              </a:lnSpc>
              <a:spcBef>
                <a:spcPts val="1000"/>
              </a:spcBef>
              <a:buFont typeface="Arial"/>
              <a:buAutoNum type="arabicPeriod"/>
            </a:pPr>
            <a:r>
              <a:rPr lang="en-US" sz="2000" b="1" dirty="0"/>
              <a:t>Revenue Overview</a:t>
            </a:r>
            <a:r>
              <a:rPr lang="en-US" sz="2000" dirty="0"/>
              <a:t> — Actual vs Budget by Entity</a:t>
            </a:r>
          </a:p>
          <a:p>
            <a:pPr marL="457200" indent="-457200">
              <a:lnSpc>
                <a:spcPts val="2400"/>
              </a:lnSpc>
              <a:spcBef>
                <a:spcPts val="1000"/>
              </a:spcBef>
              <a:buFont typeface="Arial"/>
              <a:buAutoNum type="arabicPeriod"/>
            </a:pPr>
            <a:r>
              <a:rPr lang="en-US" sz="2000" b="1" dirty="0"/>
              <a:t>Profitability Trend</a:t>
            </a:r>
            <a:r>
              <a:rPr lang="en-US" sz="2000" dirty="0"/>
              <a:t> — Revenue &amp; EBITDA Margin</a:t>
            </a:r>
          </a:p>
          <a:p>
            <a:pPr marL="457200" indent="-457200">
              <a:lnSpc>
                <a:spcPts val="2400"/>
              </a:lnSpc>
              <a:spcBef>
                <a:spcPts val="1000"/>
              </a:spcBef>
              <a:buFont typeface="Arial"/>
              <a:buAutoNum type="arabicPeriod"/>
            </a:pPr>
            <a:r>
              <a:rPr lang="en-US" sz="2000" b="1" dirty="0"/>
              <a:t>Entity Performance</a:t>
            </a:r>
            <a:r>
              <a:rPr lang="en-US" sz="2000" dirty="0"/>
              <a:t> — Americas, APAC, EMEA</a:t>
            </a:r>
          </a:p>
          <a:p>
            <a:pPr marL="457200" indent="-457200">
              <a:lnSpc>
                <a:spcPts val="2400"/>
              </a:lnSpc>
              <a:spcBef>
                <a:spcPts val="1000"/>
              </a:spcBef>
              <a:buFont typeface="Arial"/>
              <a:buAutoNum type="arabicPeriod"/>
            </a:pPr>
            <a:r>
              <a:rPr lang="en-US" sz="2000" b="1" dirty="0"/>
              <a:t>Scenario Comparison</a:t>
            </a:r>
            <a:r>
              <a:rPr lang="en-US" sz="2000" dirty="0"/>
              <a:t> — Base vs Budget vs Forecast</a:t>
            </a:r>
          </a:p>
          <a:p>
            <a:pPr marL="457200" indent="-457200">
              <a:lnSpc>
                <a:spcPts val="2400"/>
              </a:lnSpc>
              <a:spcBef>
                <a:spcPts val="1000"/>
              </a:spcBef>
              <a:buFont typeface="Arial"/>
              <a:buAutoNum type="arabicPeriod"/>
            </a:pPr>
            <a:r>
              <a:rPr lang="en-US" sz="2000" b="1" dirty="0"/>
              <a:t>Risks &amp; Opportunities</a:t>
            </a:r>
          </a:p>
        </p:txBody>
      </p:sp>
    </p:spTree>
    <p:extLst>
      <p:ext uri="{BB962C8B-B14F-4D97-AF65-F5344CB8AC3E}">
        <p14:creationId xmlns:p14="http://schemas.microsoft.com/office/powerpoint/2010/main" val="26412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D94DE-869F-511F-C362-89D140DE0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Executive Summary — FY26 KPI Snapshot</a:t>
            </a:r>
            <a:endParaRPr lang="en-AU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D2D5F6D-EF9E-4F2D-A380-099E8972ED37}"/>
              </a:ext>
            </a:extLst>
          </p:cNvPr>
          <p:cNvSpPr/>
          <p:nvPr/>
        </p:nvSpPr>
        <p:spPr>
          <a:xfrm>
            <a:off x="508000" y="1905000"/>
            <a:ext cx="3556000" cy="2032000"/>
          </a:xfrm>
          <a:prstGeom prst="roundRect">
            <a:avLst/>
          </a:prstGeom>
          <a:solidFill>
            <a:srgbClr val="D8F3DC"/>
          </a:solidFill>
          <a:ln w="12700" cap="flat" cmpd="sng" algn="ctr">
            <a:solidFill>
              <a:srgbClr val="1A3C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4A7C59"/>
                </a:solidFill>
              </a:rPr>
              <a:t>REVENUE</a:t>
            </a:r>
          </a:p>
          <a:p>
            <a:pPr algn="ctr">
              <a:buNone/>
            </a:pPr>
            <a:r>
              <a:rPr lang="en-US" sz="3200" b="1" dirty="0">
                <a:solidFill>
                  <a:srgbClr val="1A3C2E"/>
                </a:solidFill>
              </a:rPr>
              <a:t>$63.1M</a:t>
            </a:r>
          </a:p>
          <a:p>
            <a:pPr algn="ctr">
              <a:buNone/>
            </a:pPr>
            <a:r>
              <a:rPr lang="en-US" sz="1400" dirty="0">
                <a:solidFill>
                  <a:srgbClr val="C0392B"/>
                </a:solidFill>
              </a:rPr>
              <a:t>vs Budget $65.7M (-4.0%)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0A606B0-28AE-4E11-B6ED-85795809BA9E}"/>
              </a:ext>
            </a:extLst>
          </p:cNvPr>
          <p:cNvSpPr/>
          <p:nvPr/>
        </p:nvSpPr>
        <p:spPr>
          <a:xfrm>
            <a:off x="4318000" y="1905000"/>
            <a:ext cx="3556000" cy="2032000"/>
          </a:xfrm>
          <a:prstGeom prst="roundRect">
            <a:avLst/>
          </a:prstGeom>
          <a:solidFill>
            <a:srgbClr val="D8F3DC"/>
          </a:solidFill>
          <a:ln w="12700" cap="flat" cmpd="sng" algn="ctr">
            <a:solidFill>
              <a:srgbClr val="1A3C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4A7C59"/>
                </a:solidFill>
              </a:rPr>
              <a:t>REVENUE VS BUDGET</a:t>
            </a:r>
          </a:p>
          <a:p>
            <a:pPr algn="ctr">
              <a:buNone/>
            </a:pPr>
            <a:r>
              <a:rPr lang="en-US" sz="3200" b="1" dirty="0">
                <a:solidFill>
                  <a:srgbClr val="1A3C2E"/>
                </a:solidFill>
              </a:rPr>
              <a:t>-4.0%</a:t>
            </a:r>
          </a:p>
          <a:p>
            <a:pPr algn="ctr">
              <a:buNone/>
            </a:pPr>
            <a:r>
              <a:rPr lang="en-US" sz="1400" dirty="0">
                <a:solidFill>
                  <a:srgbClr val="C0392B"/>
                </a:solidFill>
              </a:rPr>
              <a:t>Actual $63.1M vs $65.7M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0B9B779-94D9-4176-9DB8-441763F60CF4}"/>
              </a:ext>
            </a:extLst>
          </p:cNvPr>
          <p:cNvSpPr/>
          <p:nvPr/>
        </p:nvSpPr>
        <p:spPr>
          <a:xfrm>
            <a:off x="8128000" y="1905000"/>
            <a:ext cx="3556000" cy="2032000"/>
          </a:xfrm>
          <a:prstGeom prst="roundRect">
            <a:avLst/>
          </a:prstGeom>
          <a:solidFill>
            <a:srgbClr val="D8F3DC"/>
          </a:solidFill>
          <a:ln w="12700" cap="flat" cmpd="sng" algn="ctr">
            <a:solidFill>
              <a:srgbClr val="1A3C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4A7C59"/>
                </a:solidFill>
              </a:rPr>
              <a:t>GROSS MARGIN %</a:t>
            </a:r>
          </a:p>
          <a:p>
            <a:pPr algn="ctr">
              <a:buNone/>
            </a:pPr>
            <a:r>
              <a:rPr lang="en-US" sz="3200" b="1" dirty="0">
                <a:solidFill>
                  <a:srgbClr val="1A3C2E"/>
                </a:solidFill>
              </a:rPr>
              <a:t>45.4%</a:t>
            </a:r>
          </a:p>
          <a:p>
            <a:pPr algn="ctr">
              <a:buNone/>
            </a:pPr>
            <a:r>
              <a:rPr lang="en-US" sz="1400" dirty="0">
                <a:solidFill>
                  <a:srgbClr val="C0392B"/>
                </a:solidFill>
              </a:rPr>
              <a:t>vs Budget 49.3% (-3.9 pts)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41B631-185E-45D9-9D9D-52D19C339467}"/>
              </a:ext>
            </a:extLst>
          </p:cNvPr>
          <p:cNvSpPr/>
          <p:nvPr/>
        </p:nvSpPr>
        <p:spPr>
          <a:xfrm>
            <a:off x="508000" y="4191000"/>
            <a:ext cx="3556000" cy="2032000"/>
          </a:xfrm>
          <a:prstGeom prst="roundRect">
            <a:avLst/>
          </a:prstGeom>
          <a:solidFill>
            <a:srgbClr val="D8F3DC"/>
          </a:solidFill>
          <a:ln w="12700" cap="flat" cmpd="sng" algn="ctr">
            <a:solidFill>
              <a:srgbClr val="1A3C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4A7C59"/>
                </a:solidFill>
              </a:rPr>
              <a:t>EBITDA</a:t>
            </a:r>
          </a:p>
          <a:p>
            <a:pPr algn="ctr">
              <a:buNone/>
            </a:pPr>
            <a:r>
              <a:rPr lang="en-US" sz="3200" b="1" dirty="0">
                <a:solidFill>
                  <a:srgbClr val="1A3C2E"/>
                </a:solidFill>
              </a:rPr>
              <a:t>-$20.2M</a:t>
            </a:r>
          </a:p>
          <a:p>
            <a:pPr algn="ctr">
              <a:buNone/>
            </a:pPr>
            <a:r>
              <a:rPr lang="en-US" sz="1400" dirty="0">
                <a:solidFill>
                  <a:srgbClr val="C0392B"/>
                </a:solidFill>
              </a:rPr>
              <a:t>vs Budget -$15.0M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E24EB6-F704-4B8E-9084-E69680524875}"/>
              </a:ext>
            </a:extLst>
          </p:cNvPr>
          <p:cNvSpPr/>
          <p:nvPr/>
        </p:nvSpPr>
        <p:spPr>
          <a:xfrm>
            <a:off x="4318000" y="4191000"/>
            <a:ext cx="3556000" cy="2032000"/>
          </a:xfrm>
          <a:prstGeom prst="roundRect">
            <a:avLst/>
          </a:prstGeom>
          <a:solidFill>
            <a:srgbClr val="D8F3DC"/>
          </a:solidFill>
          <a:ln w="12700" cap="flat" cmpd="sng" algn="ctr">
            <a:solidFill>
              <a:srgbClr val="1A3C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4A7C59"/>
                </a:solidFill>
              </a:rPr>
              <a:t>EBITDA MARGIN %</a:t>
            </a:r>
          </a:p>
          <a:p>
            <a:pPr algn="ctr">
              <a:buNone/>
            </a:pPr>
            <a:r>
              <a:rPr lang="en-US" sz="3200" b="1" dirty="0">
                <a:solidFill>
                  <a:srgbClr val="1A3C2E"/>
                </a:solidFill>
              </a:rPr>
              <a:t>-32.0%</a:t>
            </a:r>
          </a:p>
          <a:p>
            <a:pPr algn="ctr">
              <a:buNone/>
            </a:pPr>
            <a:r>
              <a:rPr lang="en-US" sz="1400" dirty="0">
                <a:solidFill>
                  <a:srgbClr val="C0392B"/>
                </a:solidFill>
              </a:rPr>
              <a:t>vs Budget -22.8%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D331AC0-A90E-4D24-A81E-4EEC4FD6C1F7}"/>
              </a:ext>
            </a:extLst>
          </p:cNvPr>
          <p:cNvSpPr/>
          <p:nvPr/>
        </p:nvSpPr>
        <p:spPr>
          <a:xfrm>
            <a:off x="8128000" y="4191000"/>
            <a:ext cx="3556000" cy="2032000"/>
          </a:xfrm>
          <a:prstGeom prst="roundRect">
            <a:avLst/>
          </a:prstGeom>
          <a:solidFill>
            <a:srgbClr val="D8F3DC"/>
          </a:solidFill>
          <a:ln w="12700" cap="flat" cmpd="sng" algn="ctr">
            <a:solidFill>
              <a:srgbClr val="1A3C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4A7C59"/>
                </a:solidFill>
              </a:rPr>
              <a:t>NET PROFIT</a:t>
            </a:r>
          </a:p>
          <a:p>
            <a:pPr algn="ctr">
              <a:buNone/>
            </a:pPr>
            <a:r>
              <a:rPr lang="en-US" sz="3200" b="1" dirty="0">
                <a:solidFill>
                  <a:srgbClr val="1A3C2E"/>
                </a:solidFill>
              </a:rPr>
              <a:t>-$20.2M</a:t>
            </a:r>
          </a:p>
          <a:p>
            <a:pPr algn="ctr">
              <a:buNone/>
            </a:pPr>
            <a:r>
              <a:rPr lang="en-US" sz="1400" dirty="0">
                <a:solidFill>
                  <a:srgbClr val="4A7C59"/>
                </a:solidFill>
              </a:rPr>
              <a:t>= EBITDA (no D&amp;A/interest/tax in model)</a:t>
            </a:r>
          </a:p>
        </p:txBody>
      </p:sp>
    </p:spTree>
    <p:extLst>
      <p:ext uri="{BB962C8B-B14F-4D97-AF65-F5344CB8AC3E}">
        <p14:creationId xmlns:p14="http://schemas.microsoft.com/office/powerpoint/2010/main" val="1357972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60E5-D6AE-6210-3BCB-CF8A6BE60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Revenue Overview — Actual vs Budget by Entity</a:t>
            </a:r>
            <a:endParaRPr lang="en-AU"/>
          </a:p>
        </p:txBody>
      </p:sp>
      <p:graphicFrame>
        <p:nvGraphicFramePr>
          <p:cNvPr id="101" name="Revenue Chart"/>
          <p:cNvGraphicFramePr/>
          <p:nvPr/>
        </p:nvGraphicFramePr>
        <p:xfrm>
          <a:off x="762000" y="1905000"/>
          <a:ext cx="10668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8375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F470-3BF6-F0CF-AD02-09909AF58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Profitability Trend — Revenue &amp; EBITDA Margin</a:t>
            </a:r>
          </a:p>
        </p:txBody>
      </p:sp>
      <p:graphicFrame>
        <p:nvGraphicFramePr>
          <p:cNvPr id="102" name="Trend Chart"/>
          <p:cNvGraphicFramePr/>
          <p:nvPr/>
        </p:nvGraphicFramePr>
        <p:xfrm>
          <a:off x="762000" y="1905000"/>
          <a:ext cx="10668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06564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98E84-1E88-891F-040E-E5CDC6179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1325563"/>
          </a:xfrm>
        </p:spPr>
        <p:txBody>
          <a:bodyPr/>
          <a:lstStyle/>
          <a:p>
            <a:r>
              <a:rPr lang="en-AU"/>
              <a:t>Entity Performance — Americas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6F030C-8686-4BAD-9C39-96BA55E8132B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1905000"/>
          <a:ext cx="711200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104160322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581021514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8412633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824403786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 b="1">
                          <a:solidFill>
                            <a:srgbClr val="FFFFFF"/>
                          </a:solidFill>
                        </a:rPr>
                        <a:t>FY26 ($)</a:t>
                      </a:r>
                    </a:p>
                  </a:txBody>
                  <a:tcPr anchor="ctr"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anchor="ctr"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FFFFFF"/>
                          </a:solidFill>
                        </a:rPr>
                        <a:t>Budget</a:t>
                      </a:r>
                    </a:p>
                  </a:txBody>
                  <a:tcPr anchor="ctr"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FFFFFF"/>
                          </a:solidFill>
                        </a:rPr>
                        <a:t>Variance</a:t>
                      </a:r>
                    </a:p>
                  </a:txBody>
                  <a:tcPr anchor="ctr">
                    <a:solidFill>
                      <a:srgbClr val="1A3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567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Revenue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28,303,635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29,586,980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C0392B"/>
                          </a:solidFill>
                        </a:rPr>
                        <a:t>-4.3%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31636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COGS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(15,595,645)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(14,992,174)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C0392B"/>
                          </a:solidFill>
                        </a:rPr>
                        <a:t>-4.0%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9608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Gross Profit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12,707,990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14,594,806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C0392B"/>
                          </a:solidFill>
                        </a:rPr>
                        <a:t>-12.9%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0104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Gross Margin %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44.9%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49.3%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C0392B"/>
                          </a:solidFill>
                        </a:rPr>
                        <a:t>-4.4 pts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713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Opex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(21,968,025)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(21,350,926)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C0392B"/>
                          </a:solidFill>
                        </a:rPr>
                        <a:t>-2.9%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98332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 b="1">
                          <a:solidFill>
                            <a:srgbClr val="1A3C2E"/>
                          </a:solidFill>
                        </a:rPr>
                        <a:t>Net Profit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1A3C2E"/>
                          </a:solidFill>
                        </a:rPr>
                        <a:t>(9,260,035)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1A3C2E"/>
                          </a:solidFill>
                        </a:rPr>
                        <a:t>(6,756,120)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C0392B"/>
                          </a:solidFill>
                        </a:rPr>
                        <a:t>-37.1%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486575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BCB1E9-E204-4E19-A8F7-47BAD018DAC4}"/>
              </a:ext>
            </a:extLst>
          </p:cNvPr>
          <p:cNvSpPr/>
          <p:nvPr/>
        </p:nvSpPr>
        <p:spPr>
          <a:xfrm>
            <a:off x="7874000" y="1905000"/>
            <a:ext cx="3810000" cy="4267200"/>
          </a:xfrm>
          <a:prstGeom prst="roundRect">
            <a:avLst/>
          </a:prstGeom>
          <a:solidFill>
            <a:srgbClr val="D8F3DC"/>
          </a:solidFill>
          <a:ln w="15875" cap="flat" cmpd="sng" algn="ctr">
            <a:solidFill>
              <a:srgbClr val="1A3C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buNone/>
            </a:pPr>
            <a:r>
              <a:rPr lang="en-US" sz="1800" b="1" dirty="0">
                <a:solidFill>
                  <a:srgbClr val="1A3C2E"/>
                </a:solidFill>
              </a:rPr>
              <a:t>Key Variance</a:t>
            </a:r>
          </a:p>
          <a:p>
            <a:pPr algn="l">
              <a:buNone/>
            </a:pPr>
            <a:endParaRPr lang="en-US" sz="600"/>
          </a:p>
          <a:p>
            <a:pPr algn="l">
              <a:buNone/>
            </a:pPr>
            <a:r>
              <a:rPr lang="en-US" sz="1600" dirty="0">
                <a:solidFill>
                  <a:srgbClr val="1A3C2E"/>
                </a:solidFill>
              </a:rPr>
              <a:t>Net profit missed budget by </a:t>
            </a:r>
            <a:r>
              <a:rPr lang="en-US" sz="1600" b="1" dirty="0">
                <a:solidFill>
                  <a:srgbClr val="C0392B"/>
                </a:solidFill>
              </a:rPr>
              <a:t>$2.50M</a:t>
            </a:r>
            <a:r>
              <a:rPr lang="en-US" sz="1600" dirty="0">
                <a:solidFill>
                  <a:srgbClr val="1A3C2E"/>
                </a:solidFill>
              </a:rPr>
              <a:t> — driven by a </a:t>
            </a:r>
            <a:r>
              <a:rPr lang="en-US" sz="1600" b="1" dirty="0">
                <a:solidFill>
                  <a:srgbClr val="1A3C2E"/>
                </a:solidFill>
              </a:rPr>
              <a:t>$1.89M gross profit shortfall</a:t>
            </a:r>
            <a:r>
              <a:rPr lang="en-US" sz="1600" dirty="0">
                <a:solidFill>
                  <a:srgbClr val="1A3C2E"/>
                </a:solidFill>
              </a:rPr>
              <a:t> (revenue -4.3%, COGS overrun) plus a </a:t>
            </a:r>
            <a:r>
              <a:rPr lang="en-US" sz="1600" b="1" dirty="0">
                <a:solidFill>
                  <a:srgbClr val="1A3C2E"/>
                </a:solidFill>
              </a:rPr>
              <a:t>$617K opex overspend</a:t>
            </a:r>
            <a:r>
              <a:rPr lang="en-US" sz="1600" dirty="0">
                <a:solidFill>
                  <a:srgbClr val="1A3C2E"/>
                </a:solidFill>
              </a:rPr>
              <a:t>, led by Salaries &amp; Wages (+$347K vs budget).</a:t>
            </a:r>
          </a:p>
          <a:p>
            <a:pPr algn="l">
              <a:buNone/>
            </a:pPr>
            <a:endParaRPr lang="en-US" sz="1000"/>
          </a:p>
          <a:p>
            <a:pPr algn="l">
              <a:buNone/>
            </a:pPr>
            <a:r>
              <a:rPr lang="en-US" sz="1400" i="1" dirty="0">
                <a:solidFill>
                  <a:srgbClr val="4A7C59"/>
                </a:solidFill>
              </a:rPr>
              <a:t>Opex mix: Salaries $13.3M · Marketing $3.8M · Software $2.0M · Travel $1.3M · Other $1.6M</a:t>
            </a:r>
          </a:p>
        </p:txBody>
      </p:sp>
    </p:spTree>
    <p:extLst>
      <p:ext uri="{BB962C8B-B14F-4D97-AF65-F5344CB8AC3E}">
        <p14:creationId xmlns:p14="http://schemas.microsoft.com/office/powerpoint/2010/main" val="3892516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98E84-1E88-891F-040E-E5CDC6179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1325563"/>
          </a:xfrm>
        </p:spPr>
        <p:txBody>
          <a:bodyPr/>
          <a:lstStyle/>
          <a:p>
            <a:pPr>
              <a:buNone/>
            </a:pPr>
            <a:r>
              <a:rPr lang="en-US" sz="2800" b="1" dirty="0"/>
              <a:t>Entity Performance — APAC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6F030C-8686-4BAD-9C39-96BA55E8132B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1905000"/>
          <a:ext cx="711200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104160322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581021514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8412633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824403786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 b="1">
                          <a:solidFill>
                            <a:srgbClr val="FFFFFF"/>
                          </a:solidFill>
                        </a:rPr>
                        <a:t>FY26 ($)</a:t>
                      </a:r>
                    </a:p>
                  </a:txBody>
                  <a:tcPr anchor="ctr"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anchor="ctr"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FFFFFF"/>
                          </a:solidFill>
                        </a:rPr>
                        <a:t>Budget</a:t>
                      </a:r>
                    </a:p>
                  </a:txBody>
                  <a:tcPr anchor="ctr"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FFFFFF"/>
                          </a:solidFill>
                        </a:rPr>
                        <a:t>Variance</a:t>
                      </a:r>
                    </a:p>
                  </a:txBody>
                  <a:tcPr anchor="ctr">
                    <a:solidFill>
                      <a:srgbClr val="1A3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567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Revenue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14,555,849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15,122,236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C0392B"/>
                          </a:solidFill>
                        </a:rPr>
                        <a:t>-3.7%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31636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COGS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(7,970,032)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(7,662,670)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C0392B"/>
                          </a:solidFill>
                        </a:rPr>
                        <a:t>-4.0%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9608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Gross Profit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6,585,817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7,459,566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C0392B"/>
                          </a:solidFill>
                        </a:rPr>
                        <a:t>-11.7%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0104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Gross Margin %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45.3%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49.3%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C0392B"/>
                          </a:solidFill>
                        </a:rPr>
                        <a:t>-4.0 pts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713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Opex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(11,275,055)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(10,912,696)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C0392B"/>
                          </a:solidFill>
                        </a:rPr>
                        <a:t>-3.3%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98332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 b="1">
                          <a:solidFill>
                            <a:srgbClr val="1A3C2E"/>
                          </a:solidFill>
                        </a:rPr>
                        <a:t>Net Profit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1A3C2E"/>
                          </a:solidFill>
                        </a:rPr>
                        <a:t>(4,689,238)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1A3C2E"/>
                          </a:solidFill>
                        </a:rPr>
                        <a:t>(3,453,130)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C0392B"/>
                          </a:solidFill>
                        </a:rPr>
                        <a:t>-35.8%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486575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BCB1E9-E204-4E19-A8F7-47BAD018DAC4}"/>
              </a:ext>
            </a:extLst>
          </p:cNvPr>
          <p:cNvSpPr/>
          <p:nvPr/>
        </p:nvSpPr>
        <p:spPr>
          <a:xfrm>
            <a:off x="7874000" y="1905000"/>
            <a:ext cx="3810000" cy="4267200"/>
          </a:xfrm>
          <a:prstGeom prst="roundRect">
            <a:avLst/>
          </a:prstGeom>
          <a:solidFill>
            <a:srgbClr val="D8F3DC"/>
          </a:solidFill>
          <a:ln w="15875" cap="flat" cmpd="sng" algn="ctr">
            <a:solidFill>
              <a:srgbClr val="1A3C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buNone/>
            </a:pPr>
            <a:r>
              <a:rPr lang="en-US" sz="1800" b="1" dirty="0">
                <a:solidFill>
                  <a:srgbClr val="1A3C2E"/>
                </a:solidFill>
              </a:rPr>
              <a:t>Key Variance</a:t>
            </a:r>
          </a:p>
          <a:p>
            <a:pPr algn="l">
              <a:buNone/>
            </a:pPr>
            <a:endParaRPr lang="en-US" sz="600"/>
          </a:p>
          <a:p>
            <a:pPr algn="l">
              <a:buNone/>
            </a:pPr>
            <a:r>
              <a:rPr lang="en-US" sz="1600" dirty="0">
                <a:solidFill>
                  <a:srgbClr val="1A3C2E"/>
                </a:solidFill>
              </a:rPr>
              <a:t>Net profit missed budget by </a:t>
            </a:r>
            <a:r>
              <a:rPr lang="en-US" sz="1600" b="1" dirty="0">
                <a:solidFill>
                  <a:srgbClr val="C0392B"/>
                </a:solidFill>
              </a:rPr>
              <a:t>$1.24M</a:t>
            </a:r>
            <a:r>
              <a:rPr lang="en-US" sz="1600" dirty="0">
                <a:solidFill>
                  <a:srgbClr val="1A3C2E"/>
                </a:solidFill>
              </a:rPr>
              <a:t> — driven by a </a:t>
            </a:r>
            <a:r>
              <a:rPr lang="en-US" sz="1600" b="1" dirty="0">
                <a:solidFill>
                  <a:srgbClr val="1A3C2E"/>
                </a:solidFill>
              </a:rPr>
              <a:t>$874K gross profit shortfall</a:t>
            </a:r>
            <a:r>
              <a:rPr lang="en-US" sz="1600" dirty="0">
                <a:solidFill>
                  <a:srgbClr val="1A3C2E"/>
                </a:solidFill>
              </a:rPr>
              <a:t> (revenue -3.7%) plus a </a:t>
            </a:r>
            <a:r>
              <a:rPr lang="en-US" sz="1600" b="1" dirty="0">
                <a:solidFill>
                  <a:srgbClr val="1A3C2E"/>
                </a:solidFill>
              </a:rPr>
              <a:t>$362K opex overspend</a:t>
            </a:r>
            <a:r>
              <a:rPr lang="en-US" sz="1600" dirty="0">
                <a:solidFill>
                  <a:srgbClr val="1A3C2E"/>
                </a:solidFill>
              </a:rPr>
              <a:t>, led by Salaries &amp; Wages (+$210K vs budget).</a:t>
            </a:r>
          </a:p>
          <a:p>
            <a:pPr algn="l">
              <a:buNone/>
            </a:pPr>
            <a:endParaRPr lang="en-US" sz="1000"/>
          </a:p>
          <a:p>
            <a:pPr algn="l">
              <a:buNone/>
            </a:pPr>
            <a:r>
              <a:rPr lang="en-US" sz="1400" i="1" dirty="0">
                <a:solidFill>
                  <a:srgbClr val="4A7C59"/>
                </a:solidFill>
              </a:rPr>
              <a:t>Opex mix: Salaries $6.8M · Marketing $2.0M · Software $1.0M · Travel $0.7M · Other $0.8M</a:t>
            </a:r>
          </a:p>
        </p:txBody>
      </p:sp>
    </p:spTree>
    <p:extLst>
      <p:ext uri="{BB962C8B-B14F-4D97-AF65-F5344CB8AC3E}">
        <p14:creationId xmlns:p14="http://schemas.microsoft.com/office/powerpoint/2010/main" val="4006919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98E84-1E88-891F-040E-E5CDC6179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1325563"/>
          </a:xfrm>
        </p:spPr>
        <p:txBody>
          <a:bodyPr/>
          <a:lstStyle/>
          <a:p>
            <a:pPr>
              <a:buNone/>
            </a:pPr>
            <a:r>
              <a:rPr lang="en-US" sz="2800" b="1" dirty="0"/>
              <a:t>Entity Performance — EMEA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6F030C-8686-4BAD-9C39-96BA55E8132B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1905000"/>
          <a:ext cx="711200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104160322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581021514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8412633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824403786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 b="1">
                          <a:solidFill>
                            <a:srgbClr val="FFFFFF"/>
                          </a:solidFill>
                        </a:rPr>
                        <a:t>FY26 ($)</a:t>
                      </a:r>
                    </a:p>
                  </a:txBody>
                  <a:tcPr anchor="ctr"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anchor="ctr"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FFFFFF"/>
                          </a:solidFill>
                        </a:rPr>
                        <a:t>Budget</a:t>
                      </a:r>
                    </a:p>
                  </a:txBody>
                  <a:tcPr anchor="ctr"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b="1">
                          <a:solidFill>
                            <a:srgbClr val="FFFFFF"/>
                          </a:solidFill>
                        </a:rPr>
                        <a:t>Variance</a:t>
                      </a:r>
                    </a:p>
                  </a:txBody>
                  <a:tcPr anchor="ctr">
                    <a:solidFill>
                      <a:srgbClr val="1A3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7567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Revenue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20,246,582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21,039,625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C0392B"/>
                          </a:solidFill>
                        </a:rPr>
                        <a:t>-3.8%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31636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COGS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(10,911,552)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(10,661,102)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C0392B"/>
                          </a:solidFill>
                        </a:rPr>
                        <a:t>-2.3%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9608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Gross Profit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9,335,030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10,378,523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C0392B"/>
                          </a:solidFill>
                        </a:rPr>
                        <a:t>-10.1%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01042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Gross Margin %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46.1%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49.3%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C0392B"/>
                          </a:solidFill>
                        </a:rPr>
                        <a:t>-3.2 pts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713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Opex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(15,568,152)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>
                          <a:solidFill>
                            <a:srgbClr val="1A3C2E"/>
                          </a:solidFill>
                        </a:rPr>
                        <a:t>(15,182,888)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C0392B"/>
                          </a:solidFill>
                        </a:rPr>
                        <a:t>-2.5%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98332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AU" sz="1400" b="1">
                          <a:solidFill>
                            <a:srgbClr val="1A3C2E"/>
                          </a:solidFill>
                        </a:rPr>
                        <a:t>Net Profit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1A3C2E"/>
                          </a:solidFill>
                        </a:rPr>
                        <a:t>(6,233,122)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1A3C2E"/>
                          </a:solidFill>
                        </a:rPr>
                        <a:t>(4,804,365)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sz="1400" b="1">
                          <a:solidFill>
                            <a:srgbClr val="C0392B"/>
                          </a:solidFill>
                        </a:rPr>
                        <a:t>-29.7%</a:t>
                      </a:r>
                    </a:p>
                  </a:txBody>
                  <a:tcPr anchor="ctr"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486575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BCB1E9-E204-4E19-A8F7-47BAD018DAC4}"/>
              </a:ext>
            </a:extLst>
          </p:cNvPr>
          <p:cNvSpPr/>
          <p:nvPr/>
        </p:nvSpPr>
        <p:spPr>
          <a:xfrm>
            <a:off x="7874000" y="1905000"/>
            <a:ext cx="3810000" cy="4267200"/>
          </a:xfrm>
          <a:prstGeom prst="roundRect">
            <a:avLst/>
          </a:prstGeom>
          <a:solidFill>
            <a:srgbClr val="D8F3DC"/>
          </a:solidFill>
          <a:ln w="15875" cap="flat" cmpd="sng" algn="ctr">
            <a:solidFill>
              <a:srgbClr val="1A3C2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buNone/>
            </a:pPr>
            <a:r>
              <a:rPr lang="en-US" sz="1800" b="1" dirty="0">
                <a:solidFill>
                  <a:srgbClr val="1A3C2E"/>
                </a:solidFill>
              </a:rPr>
              <a:t>Key Variance</a:t>
            </a:r>
          </a:p>
          <a:p>
            <a:pPr algn="l">
              <a:buNone/>
            </a:pPr>
            <a:endParaRPr lang="en-US" sz="600"/>
          </a:p>
          <a:p>
            <a:pPr algn="l">
              <a:buNone/>
            </a:pPr>
            <a:r>
              <a:rPr lang="en-US" sz="1600" dirty="0">
                <a:solidFill>
                  <a:srgbClr val="1A3C2E"/>
                </a:solidFill>
              </a:rPr>
              <a:t>Net profit missed budget by </a:t>
            </a:r>
            <a:r>
              <a:rPr lang="en-US" sz="1600" b="1" dirty="0">
                <a:solidFill>
                  <a:srgbClr val="C0392B"/>
                </a:solidFill>
              </a:rPr>
              <a:t>$1.43M</a:t>
            </a:r>
            <a:r>
              <a:rPr lang="en-US" sz="1600" dirty="0">
                <a:solidFill>
                  <a:srgbClr val="1A3C2E"/>
                </a:solidFill>
              </a:rPr>
              <a:t> — driven by a </a:t>
            </a:r>
            <a:r>
              <a:rPr lang="en-US" sz="1600" b="1" dirty="0">
                <a:solidFill>
                  <a:srgbClr val="1A3C2E"/>
                </a:solidFill>
              </a:rPr>
              <a:t>$1.04M gross profit shortfall</a:t>
            </a:r>
            <a:r>
              <a:rPr lang="en-US" sz="1600" dirty="0">
                <a:solidFill>
                  <a:srgbClr val="1A3C2E"/>
                </a:solidFill>
              </a:rPr>
              <a:t> (revenue -3.8%) plus a </a:t>
            </a:r>
            <a:r>
              <a:rPr lang="en-US" sz="1600" b="1" dirty="0">
                <a:solidFill>
                  <a:srgbClr val="1A3C2E"/>
                </a:solidFill>
              </a:rPr>
              <a:t>$385K opex overspend</a:t>
            </a:r>
            <a:r>
              <a:rPr lang="en-US" sz="1600" dirty="0">
                <a:solidFill>
                  <a:srgbClr val="1A3C2E"/>
                </a:solidFill>
              </a:rPr>
              <a:t>, led by Salaries &amp; Wages (+$235K vs budget).</a:t>
            </a:r>
          </a:p>
          <a:p>
            <a:pPr algn="l">
              <a:buNone/>
            </a:pPr>
            <a:endParaRPr lang="en-US" sz="1000"/>
          </a:p>
          <a:p>
            <a:pPr algn="l">
              <a:buNone/>
            </a:pPr>
            <a:r>
              <a:rPr lang="en-US" sz="1400" i="1" dirty="0">
                <a:solidFill>
                  <a:srgbClr val="4A7C59"/>
                </a:solidFill>
              </a:rPr>
              <a:t>Opex mix: Salaries $9.4M · Marketing $2.7M · Software $1.4M · Travel $0.9M · Other $1.1M</a:t>
            </a:r>
          </a:p>
        </p:txBody>
      </p:sp>
    </p:spTree>
    <p:extLst>
      <p:ext uri="{BB962C8B-B14F-4D97-AF65-F5344CB8AC3E}">
        <p14:creationId xmlns:p14="http://schemas.microsoft.com/office/powerpoint/2010/main" val="100092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D0DF3-510E-51B5-7543-0A43660CE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1325563"/>
          </a:xfrm>
        </p:spPr>
        <p:txBody>
          <a:bodyPr/>
          <a:lstStyle/>
          <a:p>
            <a:r>
              <a:rPr lang="en-AU"/>
              <a:t>Risks &amp;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A34BE-5ED3-5454-1FF8-1C7995ED7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rgbClr val="FBEAEA"/>
          </a:solidFill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C0392B"/>
                </a:solidFill>
              </a:rPr>
              <a:t>RISKS</a:t>
            </a:r>
          </a:p>
          <a:p>
            <a:pPr>
              <a:buNone/>
            </a:pPr>
            <a:endParaRPr lang="en-US" sz="600"/>
          </a:p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</a:rPr>
              <a:t>Net profit miss widening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1A3C2E"/>
                </a:solidFill>
              </a:rPr>
              <a:t>Group net profit missed FY26 budget by $5.17M (-34.4%) — the shortfall versus plan has deepened, not narrowed, across the year.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</a:rPr>
              <a:t>Gross margin compression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1A3C2E"/>
                </a:solidFill>
              </a:rPr>
              <a:t>Gross margin came in at 45.4% vs. 49.3% budgeted (-3.9 pts) as COGS grew faster than planned in every entity.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</a:rPr>
              <a:t>Opex overspend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1A3C2E"/>
                </a:solidFill>
              </a:rPr>
              <a:t>Total opex ran $1.36M over budget, more than half of it Salaries &amp; Wages (+$792K across Americas, APAC and EMEA).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</a:rPr>
              <a:t>Broad-based budget miss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1A3C2E"/>
                </a:solidFill>
              </a:rPr>
              <a:t>All three entities missed their net profit budget: Americas -37.1%, APAC -35.8%, EMEA -29.7%.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068E5-396B-DA42-0F9B-3BCF42E80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rgbClr val="D8F3DC"/>
          </a:solidFill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1A3C2E"/>
                </a:solidFill>
              </a:rPr>
              <a:t>OPPORTUNITIES</a:t>
            </a:r>
          </a:p>
          <a:p>
            <a:pPr>
              <a:buNone/>
            </a:pPr>
            <a:endParaRPr lang="en-US" sz="600"/>
          </a:p>
          <a:p>
            <a:pPr marL="0" indent="0">
              <a:buNone/>
            </a:pPr>
            <a:r>
              <a:rPr lang="en-US" sz="1600" b="1" dirty="0">
                <a:solidFill>
                  <a:srgbClr val="1A3C2E"/>
                </a:solidFill>
              </a:rPr>
              <a:t>Strong underlying growth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1A3C2E"/>
                </a:solidFill>
              </a:rPr>
              <a:t>Revenue grew 15.3% YoY to $63.1M despite the budget miss — the top-line trajectory remains healthy.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A3C2E"/>
                </a:solidFill>
              </a:rPr>
              <a:t>Reliable forecasting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1A3C2E"/>
                </a:solidFill>
              </a:rPr>
              <a:t>Forecast accuracy is high — 98.8% for H1 net profit and 95.6% for H1 revenue — giving confidence in the planning process.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A3C2E"/>
                </a:solidFill>
              </a:rPr>
              <a:t>EMEA as a benchmark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1A3C2E"/>
                </a:solidFill>
              </a:rPr>
              <a:t>EMEA has the smallest budget variance of the three entities (revenue -3.8%, NP -29.7%) — a template for cost discipline elsewhere.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A3C2E"/>
                </a:solidFill>
              </a:rPr>
              <a:t>Seasonal upside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1A3C2E"/>
                </a:solidFill>
              </a:rPr>
              <a:t>Q2 (Oct-Dec) is consistently the strongest quarter in both FY25 and FY26 (least-negative margins: -19.1% and -16.3%) — an window to lean into.</a:t>
            </a:r>
          </a:p>
        </p:txBody>
      </p:sp>
    </p:spTree>
    <p:extLst>
      <p:ext uri="{BB962C8B-B14F-4D97-AF65-F5344CB8AC3E}">
        <p14:creationId xmlns:p14="http://schemas.microsoft.com/office/powerpoint/2010/main" val="1227233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025A-B60A-387F-7C0E-760508704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1325563"/>
          </a:xfrm>
        </p:spPr>
        <p:txBody>
          <a:bodyPr/>
          <a:lstStyle/>
          <a:p>
            <a:r>
              <a:rPr lang="en-GB"/>
              <a:t>Scenario Comparison — Base vs Budget vs Forecast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863C43-13C9-441E-B012-94C8F96F94EC}"/>
              </a:ext>
            </a:extLst>
          </p:cNvPr>
          <p:cNvSpPr txBox="1"/>
          <p:nvPr/>
        </p:nvSpPr>
        <p:spPr>
          <a:xfrm>
            <a:off x="508000" y="5842000"/>
            <a:ext cx="1117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i="1">
                <a:solidFill>
                  <a:srgbClr val="4A7C59"/>
                </a:solidFill>
              </a:rPr>
              <a:t>Window: Aug–Dec 2026. “Base” = Base Case (active driver-based forecast preset on Scenario Manager); Upside/Downside presets exist but are not separately materialized as $ output since only one preset can be Active at a time.</a:t>
            </a:r>
            <a:endParaRPr lang="en-AU" sz="1400" i="1">
              <a:solidFill>
                <a:srgbClr val="4A7C59"/>
              </a:solidFill>
            </a:endParaRPr>
          </a:p>
        </p:txBody>
      </p:sp>
      <p:graphicFrame>
        <p:nvGraphicFramePr>
          <p:cNvPr id="101" name="Revenue Scenario Chart"/>
          <p:cNvGraphicFramePr/>
          <p:nvPr/>
        </p:nvGraphicFramePr>
        <p:xfrm>
          <a:off x="508000" y="1905000"/>
          <a:ext cx="533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2" name="Net Profit Scenario Chart"/>
          <p:cNvGraphicFramePr/>
          <p:nvPr/>
        </p:nvGraphicFramePr>
        <p:xfrm>
          <a:off x="6350000" y="1905000"/>
          <a:ext cx="533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085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3553688103]">
  <a:themeElements>
    <a:clrScheme name="Office">
      <a:dk1>
        <a:srgbClr val="1A3C2E"/>
      </a:dk1>
      <a:lt1>
        <a:srgbClr val="FFFFFF"/>
      </a:lt1>
      <a:dk2>
        <a:srgbClr val="1A3C2E"/>
      </a:dk2>
      <a:lt2>
        <a:srgbClr val="D8F3DC"/>
      </a:lt2>
      <a:accent1>
        <a:srgbClr val="1A3C2E"/>
      </a:accent1>
      <a:accent2>
        <a:srgbClr val="4A7C59"/>
      </a:accent2>
      <a:accent3>
        <a:srgbClr val="D8F3DC"/>
      </a:accent3>
      <a:accent4>
        <a:srgbClr val="8FBC9E"/>
      </a:accent4>
      <a:accent5>
        <a:srgbClr val="C0392B"/>
      </a:accent5>
      <a:accent6>
        <a:srgbClr val="B08D57"/>
      </a:accent6>
      <a:hlink>
        <a:srgbClr val="467886"/>
      </a:hlink>
      <a:folHlink>
        <a:srgbClr val="96607D"/>
      </a:folHlink>
    </a:clrScheme>
    <a:fontScheme name="Office">
      <a:majorFont>
        <a:latin typeface="Lor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61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5D02C94-5C48-492E-A38A-0A3519010DCF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8ed5b567-7fcb-490b-ae0d-9112b7b0b6f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CD1E3B10FD647B2C00F8D5CAE40C5" ma:contentTypeVersion="32" ma:contentTypeDescription="Create a new document." ma:contentTypeScope="" ma:versionID="73d6e2cc26be32446f3cfd51165ae0e4">
  <xsd:schema xmlns:xsd="http://www.w3.org/2001/XMLSchema" xmlns:xs="http://www.w3.org/2001/XMLSchema" xmlns:p="http://schemas.microsoft.com/office/2006/metadata/properties" xmlns:ns2="53292dda-03c3-4977-bff8-bb8e9ba9cad7" xmlns:ns3="c866c9ed-2f7a-4860-bf57-8153ff3a210a" targetNamespace="http://schemas.microsoft.com/office/2006/metadata/properties" ma:root="true" ma:fieldsID="3fca9c8d2e80386c62439296b549c385" ns2:_="" ns3:_="">
    <xsd:import namespace="53292dda-03c3-4977-bff8-bb8e9ba9cad7"/>
    <xsd:import namespace="c866c9ed-2f7a-4860-bf57-8153ff3a210a"/>
    <xsd:element name="properties">
      <xsd:complexType>
        <xsd:sequence>
          <xsd:element name="documentManagement">
            <xsd:complexType>
              <xsd:all>
                <xsd:element ref="ns2:PageCount" minOccurs="0"/>
                <xsd:element ref="ns2:AssetStage" minOccurs="0"/>
                <xsd:element ref="ns2:DaysAllocated" minOccurs="0"/>
                <xsd:element ref="ns2:Priority" minOccurs="0"/>
                <xsd:element ref="ns2:Proces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Asset_x0020_Number" minOccurs="0"/>
                <xsd:element ref="ns2:Asset_x0020_Type" minOccurs="0"/>
                <xsd:element ref="ns2:Category" minOccurs="0"/>
                <xsd:element ref="ns2:Early_x0020_Access" minOccurs="0"/>
                <xsd:element ref="ns2:Plagiarism_x0020_Originality" minOccurs="0"/>
                <xsd:element ref="ns2:TR_x0020_Score" minOccurs="0"/>
                <xsd:element ref="ns2:Notes0" minOccurs="0"/>
                <xsd:element ref="ns2:Reviewer" minOccurs="0"/>
                <xsd:element ref="ns2:TR_x0020_Name_x0020_1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SafisComment" minOccurs="0"/>
                <xsd:element ref="ns2:MediaLengthInSeconds" minOccurs="0"/>
                <xsd:element ref="ns2:MediaServiceBillingMetadata" minOccurs="0"/>
                <xsd:element ref="ns2:Template" minOccurs="0"/>
                <xsd:element ref="ns2:Draftstage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292dda-03c3-4977-bff8-bb8e9ba9cad7" elementFormDefault="qualified">
    <xsd:import namespace="http://schemas.microsoft.com/office/2006/documentManagement/types"/>
    <xsd:import namespace="http://schemas.microsoft.com/office/infopath/2007/PartnerControls"/>
    <xsd:element name="PageCount" ma:index="8" nillable="true" ma:displayName="Page Count" ma:decimals="0" ma:format="Dropdown" ma:internalName="PageCount" ma:percentage="FALSE">
      <xsd:simpleType>
        <xsd:restriction base="dms:Number"/>
      </xsd:simpleType>
    </xsd:element>
    <xsd:element name="AssetStage" ma:index="9" nillable="true" ma:displayName="Asset Stage" ma:format="Dropdown" ma:internalName="AssetStage">
      <xsd:simpleType>
        <xsd:union memberTypes="dms:Text">
          <xsd:simpleType>
            <xsd:restriction base="dms:Choice">
              <xsd:enumeration value="Preliminary Draft In"/>
              <xsd:enumeration value="Placed for Image Check"/>
              <xsd:enumeration value="Regenerate for Image Check"/>
              <xsd:enumeration value="1st Preliminary Draft Revision"/>
              <xsd:enumeration value="1st Revision Submission"/>
              <xsd:enumeration value="2nd Preliminary Draft Revision"/>
              <xsd:enumeration value="2nd Revision Submission"/>
              <xsd:enumeration value="3rd Preliminary Draft Revision"/>
              <xsd:enumeration value="3rd Revision Submission"/>
              <xsd:enumeration value="Preliminary Draft Acceptance"/>
              <xsd:enumeration value="Draft Ready for Review"/>
              <xsd:enumeration value="Technical Review Sent"/>
              <xsd:enumeration value="Technical Review Received"/>
              <xsd:enumeration value="Rewrites Ready"/>
              <xsd:enumeration value="Rewrites Sent"/>
              <xsd:enumeration value="Final Draft Submission"/>
              <xsd:enumeration value="Final Draft Revision"/>
              <xsd:enumeration value="Final Draft Revision Received"/>
              <xsd:enumeration value="Final Draft Acceptance"/>
              <xsd:enumeration value="Technical Editing"/>
              <xsd:enumeration value="Copy Editing Done"/>
              <xsd:enumeration value="Placed for Indexing"/>
              <xsd:enumeration value="Indexed"/>
              <xsd:enumeration value="Placed for Layout Check"/>
              <xsd:enumeration value="Regenerate for Layout Check"/>
              <xsd:enumeration value="Layouts"/>
              <xsd:enumeration value="Proof Read Submission"/>
              <xsd:enumeration value="Proof Reading Done"/>
              <xsd:enumeration value="PR - Checks"/>
              <xsd:enumeration value="Prefinals Ready"/>
              <xsd:enumeration value="Prefinals Sent"/>
              <xsd:enumeration value="Prefinals Received"/>
              <xsd:enumeration value="Final Review"/>
              <xsd:enumeration value="Finals Completed"/>
              <xsd:enumeration value="Ready For Final Checks"/>
              <xsd:enumeration value="​Indexer Finalization"/>
              <xsd:enumeration value="​CE Finalization"/>
              <xsd:enumeration value="​TE Finalization"/>
              <xsd:enumeration value="​Production Designer Finalization"/>
              <xsd:enumeration value="Porfolio Director - Checks"/>
              <xsd:enumeration value="Regenerate Club Book"/>
              <xsd:enumeration value="Ready For Index Finals"/>
              <xsd:enumeration value="Generate Final Files"/>
              <xsd:enumeration value="Ready For Upload"/>
              <xsd:enumeration value="​Upload"/>
              <xsd:enumeration value="​Graphics and Code Bundle Complete"/>
              <xsd:enumeration value="​Post Upload"/>
              <xsd:enumeration value="​Published"/>
              <xsd:enumeration value="Image Redraw"/>
              <xsd:enumeration value="Image Check"/>
            </xsd:restriction>
          </xsd:simpleType>
        </xsd:union>
      </xsd:simpleType>
    </xsd:element>
    <xsd:element name="DaysAllocated" ma:index="10" nillable="true" ma:displayName="Days Allocated" ma:decimals="0" ma:default="1" ma:format="Dropdown" ma:internalName="DaysAllocated" ma:percentage="FALSE">
      <xsd:simpleType>
        <xsd:restriction base="dms:Number"/>
      </xsd:simpleType>
    </xsd:element>
    <xsd:element name="Priority" ma:index="11" nillable="true" ma:displayName="Priority" ma:default="0" ma:internalName="Priority">
      <xsd:simpleType>
        <xsd:restriction base="dms:Boolean"/>
      </xsd:simpleType>
    </xsd:element>
    <xsd:element name="Process" ma:index="12" nillable="true" ma:displayName="Process" ma:default="CE" ma:format="Dropdown" ma:internalName="Process">
      <xsd:simpleType>
        <xsd:restriction base="dms:Choice">
          <xsd:enumeration value="CE"/>
          <xsd:enumeration value="LSE"/>
          <xsd:enumeration value="DCE"/>
          <xsd:enumeration value="WPR"/>
        </xsd:restriction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Asset_x0020_Number" ma:index="17" nillable="true" ma:displayName="Asset Number" ma:description="This is the asset number of the project and no asset type should have same numbers" ma:format="Dropdown" ma:internalName="Asset_x0020_Number">
      <xsd:simpleType>
        <xsd:union memberTypes="dms:Text">
          <xsd:simpleType>
            <xsd:restriction base="dms:Choice">
              <xsd:enumeration value="1"/>
              <xsd:enumeration value="2"/>
              <xsd:enumeration value="3"/>
              <xsd:enumeration value="4"/>
              <xsd:enumeration value="5"/>
              <xsd:enumeration value="6"/>
              <xsd:enumeration value="7"/>
              <xsd:enumeration value="8"/>
              <xsd:enumeration value="9"/>
              <xsd:enumeration value="10"/>
              <xsd:enumeration value="11"/>
              <xsd:enumeration value="12"/>
              <xsd:enumeration value="13"/>
              <xsd:enumeration value="14"/>
              <xsd:enumeration value="15"/>
              <xsd:enumeration value="16"/>
              <xsd:enumeration value="17"/>
              <xsd:enumeration value="18"/>
              <xsd:enumeration value="19"/>
              <xsd:enumeration value="20"/>
              <xsd:enumeration value="21"/>
              <xsd:enumeration value="22"/>
              <xsd:enumeration value="23"/>
              <xsd:enumeration value="24"/>
              <xsd:enumeration value="25"/>
              <xsd:enumeration value="26"/>
              <xsd:enumeration value="27"/>
              <xsd:enumeration value="28"/>
              <xsd:enumeration value="29"/>
              <xsd:enumeration value="30"/>
              <xsd:enumeration value="31"/>
              <xsd:enumeration value="32"/>
              <xsd:enumeration value="33"/>
              <xsd:enumeration value="34"/>
              <xsd:enumeration value="35"/>
              <xsd:enumeration value="36"/>
              <xsd:enumeration value="37"/>
              <xsd:enumeration value="38"/>
              <xsd:enumeration value="39"/>
              <xsd:enumeration value="40"/>
            </xsd:restriction>
          </xsd:simpleType>
        </xsd:union>
      </xsd:simpleType>
    </xsd:element>
    <xsd:element name="Asset_x0020_Type" ma:index="18" nillable="true" ma:displayName="Asset Type" ma:description="This is the type of Asset related to the product development" ma:format="Dropdown" ma:internalName="Asset_x0020_Type">
      <xsd:simpleType>
        <xsd:restriction base="dms:Choice">
          <xsd:enumeration value="Chapter"/>
          <xsd:enumeration value="Video"/>
          <xsd:enumeration value="Index"/>
          <xsd:enumeration value="Front Matter"/>
          <xsd:enumeration value="Back Matter"/>
          <xsd:enumeration value="Code"/>
          <xsd:enumeration value="Book"/>
          <xsd:enumeration value="Graphic"/>
          <xsd:enumeration value="Other"/>
        </xsd:restriction>
      </xsd:simpleType>
    </xsd:element>
    <xsd:element name="Category" ma:index="19" nillable="true" ma:displayName="Category" ma:format="Dropdown" ma:internalName="Category">
      <xsd:simpleType>
        <xsd:restriction base="dms:Choice">
          <xsd:enumeration value="Cybersecurity"/>
          <xsd:enumeration value="Data Engineering"/>
          <xsd:enumeration value="Data Science"/>
          <xsd:enumeration value="Embedded Systems Development"/>
          <xsd:enumeration value="Game Development"/>
          <xsd:enumeration value="LLM Engineering"/>
          <xsd:enumeration value="Software Engineering and Architecture"/>
          <xsd:enumeration value="Systems Administration and Networking"/>
          <xsd:enumeration value="Tech Powered Pro"/>
          <xsd:enumeration value="Web &amp; Application Development"/>
        </xsd:restriction>
      </xsd:simpleType>
    </xsd:element>
    <xsd:element name="Early_x0020_Access" ma:index="20" nillable="true" ma:displayName="Early Access" ma:default="0" ma:description="This is an option which you select when you want the chapter to be a part of the Early Access" ma:internalName="Early_x0020_Access">
      <xsd:simpleType>
        <xsd:restriction base="dms:Boolean"/>
      </xsd:simpleType>
    </xsd:element>
    <xsd:element name="Plagiarism_x0020_Originality" ma:index="21" nillable="true" ma:displayName="Plagiarism Originality" ma:description="This is a column to fill the plagiarism originality scores" ma:internalName="Plagiarism_x0020_Originality">
      <xsd:simpleType>
        <xsd:restriction base="dms:Number"/>
      </xsd:simpleType>
    </xsd:element>
    <xsd:element name="TR_x0020_Score" ma:index="22" nillable="true" ma:displayName="TR Score" ma:decimals="1" ma:internalName="TR_x0020_Score">
      <xsd:simpleType>
        <xsd:restriction base="dms:Number">
          <xsd:maxInclusive value="10"/>
          <xsd:minInclusive value="1"/>
        </xsd:restriction>
      </xsd:simpleType>
    </xsd:element>
    <xsd:element name="Notes0" ma:index="23" nillable="true" ma:displayName="Notes" ma:internalName="Notes0">
      <xsd:simpleType>
        <xsd:restriction base="dms:Text">
          <xsd:maxLength value="255"/>
        </xsd:restriction>
      </xsd:simpleType>
    </xsd:element>
    <xsd:element name="Reviewer" ma:index="24" nillable="true" ma:displayName="Reviewer" ma:format="Dropdown" ma:internalName="Reviewer">
      <xsd:simpleType>
        <xsd:restriction base="dms:Text">
          <xsd:maxLength value="255"/>
        </xsd:restriction>
      </xsd:simpleType>
    </xsd:element>
    <xsd:element name="TR_x0020_Name_x0020_1" ma:index="25" nillable="true" ma:displayName="TR Name 1" ma:description="&quot;attack&quot; in &quot;Compressor&quot; bullet point&#10;&#10;I am keeping this highlighted so that I can explain what Attack (technical sound term) means in the Glossary." ma:internalName="TR_x0020_Name_x0020_1">
      <xsd:simpleType>
        <xsd:restriction base="dms:Note">
          <xsd:maxLength value="255"/>
        </xsd:restriction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3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33" nillable="true" ma:displayName="Location" ma:description="" ma:indexed="true" ma:internalName="MediaServiceLocation" ma:readOnly="true">
      <xsd:simpleType>
        <xsd:restriction base="dms:Text"/>
      </xsd:simpleType>
    </xsd:element>
    <xsd:element name="SafisComment" ma:index="34" nillable="true" ma:displayName="Safis Comment" ma:format="Dropdown" ma:internalName="SafisComment">
      <xsd:simpleType>
        <xsd:restriction base="dms:Choice">
          <xsd:enumeration value="Same Day TAT"/>
          <xsd:enumeration value="One Day TAT"/>
          <xsd:enumeration value="ReCEing"/>
          <xsd:enumeration value="Same Day TAT, ReCEing"/>
          <xsd:enumeration value="One Day TAT, ReCEing"/>
        </xsd:restriction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36" nillable="true" ma:displayName="MediaServiceBillingMetadata" ma:hidden="true" ma:internalName="MediaServiceBillingMetadata" ma:readOnly="true">
      <xsd:simpleType>
        <xsd:restriction base="dms:Note"/>
      </xsd:simpleType>
    </xsd:element>
    <xsd:element name="Template" ma:index="37" nillable="true" ma:displayName="Template" ma:format="Dropdown" ma:internalName="Template">
      <xsd:simpleType>
        <xsd:restriction base="dms:Choice">
          <xsd:enumeration value="PACKT"/>
          <xsd:enumeration value="Explorer"/>
          <xsd:enumeration value="PEN"/>
        </xsd:restriction>
      </xsd:simpleType>
    </xsd:element>
    <xsd:element name="Draftstage" ma:index="38" nillable="true" ma:displayName="Draft stage" ma:format="Dropdown" ma:internalName="Draftstage">
      <xsd:simpleType>
        <xsd:restriction base="dms:Text">
          <xsd:maxLength value="255"/>
        </xsd:restriction>
      </xsd:simpleType>
    </xsd:element>
    <xsd:element name="_Flow_SignoffStatus" ma:index="39" nillable="true" ma:displayName="Sign-off status" ma:internalName="_x0024_Resources_x003a_core_x002c_Signoff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66c9ed-2f7a-4860-bf57-8153ff3a210a" elementFormDefault="qualified">
    <xsd:import namespace="http://schemas.microsoft.com/office/2006/documentManagement/types"/>
    <xsd:import namespace="http://schemas.microsoft.com/office/infopath/2007/PartnerControls"/>
    <xsd:element name="TaxCatchAll" ma:index="28" nillable="true" ma:displayName="Taxonomy Catch All Column" ma:hidden="true" ma:list="{b0b99e7b-2d5c-4d76-8978-e279b984ef45}" ma:internalName="TaxCatchAll" ma:showField="CatchAllData" ma:web="c866c9ed-2f7a-4860-bf57-8153ff3a21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fisComment xmlns="53292dda-03c3-4977-bff8-bb8e9ba9cad7" xsi:nil="true"/>
    <TaxCatchAll xmlns="c866c9ed-2f7a-4860-bf57-8153ff3a210a" xsi:nil="true"/>
    <PageCount xmlns="53292dda-03c3-4977-bff8-bb8e9ba9cad7" xsi:nil="true"/>
    <Notes0 xmlns="53292dda-03c3-4977-bff8-bb8e9ba9cad7" xsi:nil="true"/>
    <Early_x0020_Access xmlns="53292dda-03c3-4977-bff8-bb8e9ba9cad7">false</Early_x0020_Access>
    <TR_x0020_Name_x0020_1 xmlns="53292dda-03c3-4977-bff8-bb8e9ba9cad7" xsi:nil="true"/>
    <Reviewer xmlns="53292dda-03c3-4977-bff8-bb8e9ba9cad7" xsi:nil="true"/>
    <Template xmlns="53292dda-03c3-4977-bff8-bb8e9ba9cad7" xsi:nil="true"/>
    <Draftstage xmlns="53292dda-03c3-4977-bff8-bb8e9ba9cad7" xsi:nil="true"/>
    <_Flow_SignoffStatus xmlns="53292dda-03c3-4977-bff8-bb8e9ba9cad7" xsi:nil="true"/>
    <DaysAllocated xmlns="53292dda-03c3-4977-bff8-bb8e9ba9cad7">1</DaysAllocated>
    <Priority xmlns="53292dda-03c3-4977-bff8-bb8e9ba9cad7">false</Priority>
    <TR_x0020_Score xmlns="53292dda-03c3-4977-bff8-bb8e9ba9cad7" xsi:nil="true"/>
    <lcf76f155ced4ddcb4097134ff3c332f xmlns="53292dda-03c3-4977-bff8-bb8e9ba9cad7">
      <Terms xmlns="http://schemas.microsoft.com/office/infopath/2007/PartnerControls"/>
    </lcf76f155ced4ddcb4097134ff3c332f>
    <Asset_x0020_Number xmlns="53292dda-03c3-4977-bff8-bb8e9ba9cad7" xsi:nil="true"/>
    <Plagiarism_x0020_Originality xmlns="53292dda-03c3-4977-bff8-bb8e9ba9cad7" xsi:nil="true"/>
    <AssetStage xmlns="53292dda-03c3-4977-bff8-bb8e9ba9cad7" xsi:nil="true"/>
    <Process xmlns="53292dda-03c3-4977-bff8-bb8e9ba9cad7">CE</Process>
    <Asset_x0020_Type xmlns="53292dda-03c3-4977-bff8-bb8e9ba9cad7" xsi:nil="true"/>
    <Category xmlns="53292dda-03c3-4977-bff8-bb8e9ba9cad7" xsi:nil="true"/>
  </documentManagement>
</p:properties>
</file>

<file path=customXml/itemProps1.xml><?xml version="1.0" encoding="utf-8"?>
<ds:datastoreItem xmlns:ds="http://schemas.openxmlformats.org/officeDocument/2006/customXml" ds:itemID="{C35EE2A4-8EFF-4E2D-9776-8DF4A1A17994}"/>
</file>

<file path=customXml/itemProps2.xml><?xml version="1.0" encoding="utf-8"?>
<ds:datastoreItem xmlns:ds="http://schemas.openxmlformats.org/officeDocument/2006/customXml" ds:itemID="{D8E407A5-8788-4DBF-8E71-8E47A2AB2370}"/>
</file>

<file path=customXml/itemProps3.xml><?xml version="1.0" encoding="utf-8"?>
<ds:datastoreItem xmlns:ds="http://schemas.openxmlformats.org/officeDocument/2006/customXml" ds:itemID="{534F8E05-8D0B-4E0A-9F1F-3DC482A4FE7E}"/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839</Words>
  <Application>Microsoft Office PowerPoint</Application>
  <PresentationFormat>Widescreen</PresentationFormat>
  <Paragraphs>160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Lora</vt:lpstr>
      <vt:lpstr>Source Sans Pro</vt:lpstr>
      <vt:lpstr>Office Theme [1783553688103]</vt:lpstr>
      <vt:lpstr>Management Reporting Board Pack</vt:lpstr>
      <vt:lpstr>Agenda</vt:lpstr>
      <vt:lpstr>Executive Summary — FY26 KPI Snapshot</vt:lpstr>
      <vt:lpstr>Revenue Overview — Actual vs Budget by Entity</vt:lpstr>
      <vt:lpstr>Profitability Trend — Revenue &amp; EBITDA Margin</vt:lpstr>
      <vt:lpstr>Entity Performance — Americas</vt:lpstr>
      <vt:lpstr>Entity Performance — APAC</vt:lpstr>
      <vt:lpstr>Entity Performance — EMEA</vt:lpstr>
      <vt:lpstr>Risks &amp; Opportunities</vt:lpstr>
      <vt:lpstr>Scenario Comparison — Base vs Budget vs Forecast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Lance Rubin</dc:creator>
  <cp:lastModifiedBy>Lance Rubin</cp:lastModifiedBy>
  <cp:revision>9</cp:revision>
  <dcterms:created xsi:type="dcterms:W3CDTF">2026-07-08T22:27:18Z</dcterms:created>
  <dcterms:modified xsi:type="dcterms:W3CDTF">2026-07-09T00:57:50Z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0x010100F28CD1E3B10FD647B2C00F8D5CAE40C5</vt:lpwstr>
  </property>
</Properties>
</file>